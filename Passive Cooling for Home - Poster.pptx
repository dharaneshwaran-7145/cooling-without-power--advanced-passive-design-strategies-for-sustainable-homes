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>
  <p:sldMasterIdLst>
    <p:sldMasterId id="2147483662" r:id="rId1"/>
    <p:sldMasterId id="2147483664" r:id="rId2"/>
  </p:sldMasterIdLst>
  <p:notesMasterIdLst>
    <p:notesMasterId r:id="rId4"/>
  </p:notesMasterIdLst>
  <p:handoutMasterIdLst>
    <p:handoutMasterId r:id="rId5"/>
  </p:handoutMasterIdLst>
  <p:sldIdLst>
    <p:sldId id="259" r:id="rId3"/>
  </p:sldIdLst>
  <p:sldSz cx="21388388" cy="30279975"/>
  <p:notesSz cx="14663738" cy="20926425"/>
  <p:embeddedFontLst>
    <p:embeddedFont>
      <p:font typeface="Rdg Vesta" panose="020B0604020202020204" charset="0"/>
      <p:regular r:id="rId6"/>
      <p:bold r:id="rId7"/>
      <p:italic r:id="rId8"/>
      <p:boldItalic r:id="rId9"/>
    </p:embeddedFont>
  </p:embeddedFont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5pPr>
    <a:lvl6pPr marL="2286000" algn="l" defTabSz="914400" rtl="0" eaLnBrk="1" latinLnBrk="0" hangingPunct="1"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6pPr>
    <a:lvl7pPr marL="2743200" algn="l" defTabSz="914400" rtl="0" eaLnBrk="1" latinLnBrk="0" hangingPunct="1"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7pPr>
    <a:lvl8pPr marL="3200400" algn="l" defTabSz="914400" rtl="0" eaLnBrk="1" latinLnBrk="0" hangingPunct="1"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8pPr>
    <a:lvl9pPr marL="3657600" algn="l" defTabSz="914400" rtl="0" eaLnBrk="1" latinLnBrk="0" hangingPunct="1"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52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6591">
          <p15:clr>
            <a:srgbClr val="A4A3A4"/>
          </p15:clr>
        </p15:guide>
        <p15:guide id="2" pos="461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8473"/>
    <a:srgbClr val="FF0000"/>
    <a:srgbClr val="E6E6E6"/>
    <a:srgbClr val="106D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E2733F-8CB7-4A08-923C-8113DD3728D2}" v="9" dt="2026-08-14T14:31:26.1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5" d="100"/>
          <a:sy n="55" d="100"/>
        </p:scale>
        <p:origin x="120" y="34"/>
      </p:cViewPr>
      <p:guideLst>
        <p:guide orient="horz"/>
        <p:guide pos="52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6591"/>
        <p:guide pos="461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font" Target="fonts/font2.fntdata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viewProps" Target="viewProps.xml"/><Relationship Id="rId5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6354763" cy="1046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8305800" y="0"/>
            <a:ext cx="6354763" cy="1046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19877088"/>
            <a:ext cx="6354763" cy="1046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8305800" y="19877088"/>
            <a:ext cx="6354763" cy="1046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4106BD75-3EFD-4C18-B180-068DCC7276B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84212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6354763" cy="104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3246" tIns="101626" rIns="203246" bIns="101626" numCol="1" anchor="t" anchorCtr="0" compatLnSpc="1">
            <a:prstTxWarp prst="textNoShape">
              <a:avLst/>
            </a:prstTxWarp>
          </a:bodyPr>
          <a:lstStyle>
            <a:lvl1pPr defTabSz="2033588" eaLnBrk="0" hangingPunct="0">
              <a:defRPr sz="27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8305800" y="0"/>
            <a:ext cx="6356350" cy="104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3246" tIns="101626" rIns="203246" bIns="101626" numCol="1" anchor="t" anchorCtr="0" compatLnSpc="1">
            <a:prstTxWarp prst="textNoShape">
              <a:avLst/>
            </a:prstTxWarp>
          </a:bodyPr>
          <a:lstStyle>
            <a:lvl1pPr algn="r" defTabSz="2033588" eaLnBrk="0" hangingPunct="0">
              <a:defRPr sz="27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64063" y="1570038"/>
            <a:ext cx="5543550" cy="78501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466850" y="9942513"/>
            <a:ext cx="11730038" cy="941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3246" tIns="101626" rIns="203246" bIns="1016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9877088"/>
            <a:ext cx="6354763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3246" tIns="101626" rIns="203246" bIns="101626" numCol="1" anchor="b" anchorCtr="0" compatLnSpc="1">
            <a:prstTxWarp prst="textNoShape">
              <a:avLst/>
            </a:prstTxWarp>
          </a:bodyPr>
          <a:lstStyle>
            <a:lvl1pPr defTabSz="2033588" eaLnBrk="0" hangingPunct="0">
              <a:defRPr sz="27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8305800" y="19877088"/>
            <a:ext cx="6356350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3246" tIns="101626" rIns="203246" bIns="101626" numCol="1" anchor="b" anchorCtr="0" compatLnSpc="1">
            <a:prstTxWarp prst="textNoShape">
              <a:avLst/>
            </a:prstTxWarp>
          </a:bodyPr>
          <a:lstStyle>
            <a:lvl1pPr algn="r" defTabSz="2033588" eaLnBrk="0" hangingPunct="0">
              <a:defRPr sz="2700"/>
            </a:lvl1pPr>
          </a:lstStyle>
          <a:p>
            <a:pPr>
              <a:defRPr/>
            </a:pPr>
            <a:fld id="{5778D20B-1032-4243-B265-D2D63470AEB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75309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78D20B-1032-4243-B265-D2D63470AEBF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80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36600" y="5635625"/>
            <a:ext cx="9344025" cy="23852186"/>
          </a:xfrm>
          <a:prstGeom prst="rect">
            <a:avLst/>
          </a:prstGeom>
        </p:spPr>
        <p:txBody>
          <a:bodyPr/>
          <a:lstStyle>
            <a:lvl1pPr marL="360000" indent="-360000">
              <a:spcBef>
                <a:spcPts val="1400"/>
              </a:spcBef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 indent="-360000">
              <a:spcBef>
                <a:spcPts val="1000"/>
              </a:spcBef>
              <a:buFont typeface="Arial" pitchFamily="34" charset="0"/>
              <a:buChar char="•"/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>
              <a:spcBef>
                <a:spcPts val="600"/>
              </a:spcBef>
              <a:buFont typeface="Rdg Vesta" pitchFamily="2" charset="0"/>
              <a:buChar char="−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50000" indent="-270000">
              <a:spcBef>
                <a:spcPts val="500"/>
              </a:spcBef>
              <a:buFont typeface="Arial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30000" indent="-180000">
              <a:spcBef>
                <a:spcPts val="500"/>
              </a:spcBef>
              <a:buClr>
                <a:schemeClr val="tx2"/>
              </a:buClr>
              <a:buFont typeface="Rdg Vesta" pitchFamily="2" charset="0"/>
              <a:buChar char="−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455613" marR="0" lvl="0" indent="-455613" algn="l" defTabSz="2952750" rtl="0" eaLnBrk="1" fontAlgn="base" latinLnBrk="0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US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455613" marR="0" lvl="1" indent="-455613" algn="l" defTabSz="2952750" rtl="0" eaLnBrk="1" fontAlgn="base" latinLnBrk="0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US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455613" marR="0" lvl="2" indent="-455613" algn="l" defTabSz="2952750" rtl="0" eaLnBrk="1" fontAlgn="base" latinLnBrk="0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US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455613" marR="0" lvl="3" indent="-455613" algn="l" defTabSz="2952750" rtl="0" eaLnBrk="1" fontAlgn="base" latinLnBrk="0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US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6732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7" userDrawn="1">
          <p15:clr>
            <a:srgbClr val="FBAE40"/>
          </p15:clr>
        </p15:guide>
        <p15:guide id="2" pos="673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EF963AC-AD21-4E43-A16C-AB75B1463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5635625"/>
            <a:ext cx="9344025" cy="23852186"/>
          </a:xfrm>
          <a:prstGeom prst="rect">
            <a:avLst/>
          </a:prstGeom>
        </p:spPr>
        <p:txBody>
          <a:bodyPr/>
          <a:lstStyle>
            <a:lvl1pPr marL="360000" indent="-360000">
              <a:spcBef>
                <a:spcPts val="1400"/>
              </a:spcBef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 indent="-360000">
              <a:spcBef>
                <a:spcPts val="1000"/>
              </a:spcBef>
              <a:buFont typeface="Arial" pitchFamily="34" charset="0"/>
              <a:buChar char="•"/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>
              <a:spcBef>
                <a:spcPts val="600"/>
              </a:spcBef>
              <a:buFont typeface="Rdg Vesta" pitchFamily="2" charset="0"/>
              <a:buChar char="−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50000" indent="-270000">
              <a:spcBef>
                <a:spcPts val="500"/>
              </a:spcBef>
              <a:buFont typeface="Arial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30000" indent="-180000">
              <a:spcBef>
                <a:spcPts val="500"/>
              </a:spcBef>
              <a:buClr>
                <a:schemeClr val="tx2"/>
              </a:buClr>
              <a:buFont typeface="Rdg Vesta" pitchFamily="2" charset="0"/>
              <a:buChar char="−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455613" marR="0" lvl="0" indent="-455613" algn="l" defTabSz="2952750" rtl="0" eaLnBrk="1" fontAlgn="base" latinLnBrk="0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1000125" marR="0" lvl="1" indent="-457200" algn="l" defTabSz="2952750" rtl="0" eaLnBrk="1" fontAlgn="base" latinLnBrk="0" hangingPunct="1">
              <a:lnSpc>
                <a:spcPct val="125000"/>
              </a:lnSpc>
              <a:spcBef>
                <a:spcPct val="4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1331913" marR="0" lvl="2" indent="-342900" algn="l" defTabSz="2952750" rtl="0" eaLnBrk="1" fontAlgn="base" latinLnBrk="0" hangingPunct="1">
              <a:lnSpc>
                <a:spcPct val="125000"/>
              </a:lnSpc>
              <a:spcBef>
                <a:spcPct val="3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644650" marR="0" lvl="3" indent="-301625" algn="l" defTabSz="2952750" rtl="0" eaLnBrk="1" fontAlgn="base" latinLnBrk="0" hangingPunct="1">
              <a:lnSpc>
                <a:spcPct val="125000"/>
              </a:lnSpc>
              <a:spcBef>
                <a:spcPct val="4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123904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Rectangle 33"/>
          <p:cNvSpPr>
            <a:spLocks noChangeArrowheads="1"/>
          </p:cNvSpPr>
          <p:nvPr/>
        </p:nvSpPr>
        <p:spPr bwMode="auto">
          <a:xfrm>
            <a:off x="0" y="0"/>
            <a:ext cx="21388388" cy="51689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/>
          </a:p>
        </p:txBody>
      </p:sp>
      <p:sp>
        <p:nvSpPr>
          <p:cNvPr id="1062" name="Text Box 38"/>
          <p:cNvSpPr txBox="1">
            <a:spLocks noChangeArrowheads="1"/>
          </p:cNvSpPr>
          <p:nvPr/>
        </p:nvSpPr>
        <p:spPr bwMode="auto">
          <a:xfrm>
            <a:off x="668338" y="4338787"/>
            <a:ext cx="19962812" cy="545143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lIns="91436" tIns="45717" rIns="91436" bIns="45717">
            <a:spAutoFit/>
          </a:bodyPr>
          <a:lstStyle/>
          <a:p>
            <a:pPr defTabSz="912813" eaLnBrk="0" hangingPunct="0">
              <a:lnSpc>
                <a:spcPct val="110000"/>
              </a:lnSpc>
              <a:defRPr/>
            </a:pPr>
            <a:r>
              <a:rPr lang="en-GB" sz="29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BHUVANAN M   </a:t>
            </a:r>
            <a:r>
              <a:rPr lang="en-GB" sz="29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ARAVINTH R   </a:t>
            </a:r>
            <a:r>
              <a:rPr lang="en-GB" sz="29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AMBIKA B </a:t>
            </a:r>
            <a:r>
              <a:rPr lang="en-GB" sz="29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DHARANESHWARAN B </a:t>
            </a:r>
            <a:endParaRPr lang="en-GB" sz="20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8" name="Rectangle 39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6600" y="5635625"/>
            <a:ext cx="9344025" cy="2383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1029" name="Picture 34" descr="KIOT Device Reversed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03775" y="792163"/>
            <a:ext cx="3148013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736600" y="1350963"/>
            <a:ext cx="20131088" cy="298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</a:p>
        </p:txBody>
      </p:sp>
      <p:sp>
        <p:nvSpPr>
          <p:cNvPr id="1067" name="Rectangle 43"/>
          <p:cNvSpPr>
            <a:spLocks noChangeArrowheads="1"/>
          </p:cNvSpPr>
          <p:nvPr/>
        </p:nvSpPr>
        <p:spPr bwMode="auto">
          <a:xfrm>
            <a:off x="0" y="0"/>
            <a:ext cx="21388388" cy="3027997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2952750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268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 b="1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2pPr>
      <a:lvl3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3pPr>
      <a:lvl4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4pPr>
      <a:lvl5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5pPr>
      <a:lvl6pPr marL="4572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6pPr>
      <a:lvl7pPr marL="9144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7pPr>
      <a:lvl8pPr marL="13716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8pPr>
      <a:lvl9pPr marL="18288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9pPr>
    </p:titleStyle>
    <p:bodyStyle>
      <a:lvl1pPr marL="455613" indent="-455613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000125" indent="-457200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331913" indent="-342900" algn="l" defTabSz="2952750" rtl="0" eaLnBrk="1" fontAlgn="base" hangingPunct="1">
        <a:lnSpc>
          <a:spcPct val="125000"/>
        </a:lnSpc>
        <a:spcBef>
          <a:spcPct val="30000"/>
        </a:spcBef>
        <a:spcAft>
          <a:spcPct val="0"/>
        </a:spcAft>
        <a:buClr>
          <a:schemeClr val="tx2"/>
        </a:buClr>
        <a:buChar char="•"/>
        <a:defRPr sz="22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44650" indent="-301625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25622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30194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34766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9338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43910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537" userDrawn="1">
          <p15:clr>
            <a:srgbClr val="F26B43"/>
          </p15:clr>
        </p15:guide>
        <p15:guide id="2" pos="673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Rectangle 33"/>
          <p:cNvSpPr>
            <a:spLocks noChangeArrowheads="1"/>
          </p:cNvSpPr>
          <p:nvPr/>
        </p:nvSpPr>
        <p:spPr bwMode="auto">
          <a:xfrm>
            <a:off x="0" y="0"/>
            <a:ext cx="21388388" cy="51689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/>
          </a:p>
        </p:txBody>
      </p:sp>
      <p:sp>
        <p:nvSpPr>
          <p:cNvPr id="1062" name="Text Box 38"/>
          <p:cNvSpPr txBox="1">
            <a:spLocks noChangeArrowheads="1"/>
          </p:cNvSpPr>
          <p:nvPr/>
        </p:nvSpPr>
        <p:spPr bwMode="auto">
          <a:xfrm>
            <a:off x="668338" y="4533900"/>
            <a:ext cx="19962812" cy="545143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lIns="91436" tIns="45717" rIns="91436" bIns="45717">
            <a:spAutoFit/>
          </a:bodyPr>
          <a:lstStyle/>
          <a:p>
            <a:pPr defTabSz="912813" eaLnBrk="0" hangingPunct="0">
              <a:lnSpc>
                <a:spcPct val="110000"/>
              </a:lnSpc>
              <a:defRPr/>
            </a:pPr>
            <a:r>
              <a:rPr lang="en-GB" sz="29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 1   </a:t>
            </a:r>
            <a:r>
              <a:rPr lang="en-GB" sz="29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Author 2   </a:t>
            </a:r>
            <a:r>
              <a:rPr lang="en-GB" sz="29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Author 3   (edit this list via View &gt; Slide Master)</a:t>
            </a:r>
            <a:endParaRPr lang="en-GB" sz="20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8" name="Rectangle 39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6600" y="5635625"/>
            <a:ext cx="9344025" cy="2383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1029" name="Picture 34" descr="KIOT Device Reversed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03775" y="792163"/>
            <a:ext cx="3148013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736600" y="1350963"/>
            <a:ext cx="20131088" cy="298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</a:p>
        </p:txBody>
      </p:sp>
      <p:sp>
        <p:nvSpPr>
          <p:cNvPr id="1061" name="Text Box 37"/>
          <p:cNvSpPr txBox="1">
            <a:spLocks noChangeArrowheads="1"/>
          </p:cNvSpPr>
          <p:nvPr/>
        </p:nvSpPr>
        <p:spPr bwMode="auto">
          <a:xfrm>
            <a:off x="736600" y="792163"/>
            <a:ext cx="104616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912813" eaLnBrk="0" hangingPunct="0">
              <a:spcBef>
                <a:spcPct val="50000"/>
              </a:spcBef>
              <a:defRPr/>
            </a:pPr>
            <a:r>
              <a:rPr lang="en-GB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unit name via </a:t>
            </a:r>
            <a:br>
              <a:rPr lang="en-GB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 &gt; Slide Master</a:t>
            </a:r>
          </a:p>
        </p:txBody>
      </p:sp>
      <p:sp>
        <p:nvSpPr>
          <p:cNvPr id="1067" name="Rectangle 43"/>
          <p:cNvSpPr>
            <a:spLocks noChangeArrowheads="1"/>
          </p:cNvSpPr>
          <p:nvPr/>
        </p:nvSpPr>
        <p:spPr bwMode="auto">
          <a:xfrm>
            <a:off x="0" y="0"/>
            <a:ext cx="21388388" cy="3027997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2952750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540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 b="1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2pPr>
      <a:lvl3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3pPr>
      <a:lvl4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4pPr>
      <a:lvl5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5pPr>
      <a:lvl6pPr marL="4572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6pPr>
      <a:lvl7pPr marL="9144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7pPr>
      <a:lvl8pPr marL="13716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8pPr>
      <a:lvl9pPr marL="18288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9pPr>
    </p:titleStyle>
    <p:bodyStyle>
      <a:lvl1pPr marL="455613" indent="-455613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000125" indent="-457200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331913" indent="-342900" algn="l" defTabSz="2952750" rtl="0" eaLnBrk="1" fontAlgn="base" hangingPunct="1">
        <a:lnSpc>
          <a:spcPct val="125000"/>
        </a:lnSpc>
        <a:spcBef>
          <a:spcPct val="30000"/>
        </a:spcBef>
        <a:spcAft>
          <a:spcPct val="0"/>
        </a:spcAft>
        <a:buClr>
          <a:schemeClr val="tx2"/>
        </a:buClr>
        <a:buChar char="•"/>
        <a:defRPr sz="22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44650" indent="-301625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25622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30194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34766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9338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43910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person@reading.ac.u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323850" y="5166840"/>
            <a:ext cx="10077450" cy="2383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446088" indent="-446088">
              <a:spcBef>
                <a:spcPts val="0"/>
              </a:spcBef>
              <a:buNone/>
            </a:pPr>
            <a:r>
              <a:rPr lang="en-GB" sz="24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Abstract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Rapid urbanization and rising global temperatures have increased dependence on mechanical air-conditioning, driving up energy consumption and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environmental impact. This project designs and validates a passive cooling home that maintains indoor thermal comfort without electrical cooling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systems. A compact semi-cylindrical dome shaped prototype (max. 600mm x 600mm x 600mm) was built to enhance natural air circulation and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reduce heat gain, combining stack-effect and Venturi-assisted ventilation with reflective surfaces. Indoor temperature remained consistently 2-3 </a:t>
            </a:r>
            <a:r>
              <a:rPr lang="en-IN" sz="1200" dirty="0" err="1">
                <a:latin typeface="+mn-lt"/>
              </a:rPr>
              <a:t>deg</a:t>
            </a:r>
            <a:r>
              <a:rPr lang="en-IN" sz="1200" dirty="0">
                <a:latin typeface="+mn-lt"/>
              </a:rPr>
              <a:t> C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lower than outdoor conditions, confirming passive cooling as a low-cost, sustainable alternative for hot, tropical residential buildings.</a:t>
            </a:r>
            <a:endParaRPr lang="en-GB" sz="1200" dirty="0">
              <a:latin typeface="+mn-lt"/>
            </a:endParaRPr>
          </a:p>
          <a:p>
            <a:pPr marL="446088" indent="-446088">
              <a:spcBef>
                <a:spcPts val="2600"/>
              </a:spcBef>
              <a:buNone/>
            </a:pPr>
            <a:r>
              <a:rPr lang="en-GB" sz="24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Conventional air-conditioning consumes large amounts of electrical energy and contributes to carbon emissions, yet most residential designs in hot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regions like Tamil Nadu do not use climate-responsive features. There is a clear need for a low-cost, energy-efficient cooling approach that reduces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indoor heat without mechanical or electrical systems.</a:t>
            </a:r>
            <a:endParaRPr lang="en-GB" sz="1200" dirty="0">
              <a:latin typeface="+mn-lt"/>
            </a:endParaRPr>
          </a:p>
          <a:p>
            <a:pPr marL="446088" indent="-446088">
              <a:spcBef>
                <a:spcPts val="2600"/>
              </a:spcBef>
              <a:buNone/>
            </a:pPr>
            <a:r>
              <a:rPr lang="en-GB" sz="24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 for the Project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IN" sz="1200" dirty="0">
                <a:latin typeface="+mj-lt"/>
              </a:rPr>
              <a:t>The project provides a sustainable, low-energy cooling alternative that reduces electricity consumption and carbon footprint while improving thermal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IN" sz="1200" dirty="0">
                <a:latin typeface="+mj-lt"/>
              </a:rPr>
              <a:t>comfort. It demonstrates how architectural geometry and material selection alone can be used to fight heat gain in tropical climates. </a:t>
            </a:r>
          </a:p>
          <a:p>
            <a:pPr marL="358775" indent="-358775">
              <a:spcBef>
                <a:spcPts val="600"/>
              </a:spcBef>
              <a:buNone/>
            </a:pPr>
            <a:endParaRPr lang="en-IN" sz="1000" dirty="0">
              <a:latin typeface="+mj-lt"/>
            </a:endParaRPr>
          </a:p>
          <a:p>
            <a:pPr marL="358775" indent="-358775">
              <a:spcBef>
                <a:spcPts val="600"/>
              </a:spcBef>
              <a:buNone/>
            </a:pPr>
            <a:r>
              <a:rPr lang="en-GB" sz="24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Objectives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 dirty="0">
                <a:latin typeface="+mn-lt"/>
              </a:rPr>
              <a:t>Design a passive cooling home using a semi-cylindrical dome roof for enhanced natural ventilation. 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 dirty="0">
                <a:latin typeface="+mn-lt"/>
              </a:rPr>
              <a:t>Reduce indoor heat gain using stack effect, Venturi effect, and reflective surface treatment. 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 dirty="0">
                <a:latin typeface="+mn-lt"/>
              </a:rPr>
              <a:t>Validate cooling performance experimentally using temperature sensors and data logging. 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 dirty="0">
                <a:latin typeface="+mn-lt"/>
              </a:rPr>
              <a:t>Establish a low-cost, scalable design pathway to full-scale residential construction.</a:t>
            </a:r>
            <a:endParaRPr lang="en-GB" sz="1200" dirty="0">
              <a:latin typeface="+mn-lt"/>
            </a:endParaRPr>
          </a:p>
          <a:p>
            <a:pPr marL="446088" indent="-446088">
              <a:spcBef>
                <a:spcPts val="2600"/>
              </a:spcBef>
              <a:buNone/>
            </a:pPr>
            <a:r>
              <a:rPr lang="en-GB" sz="24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Components and Materials</a:t>
            </a:r>
          </a:p>
          <a:p>
            <a:pPr>
              <a:spcBef>
                <a:spcPts val="900"/>
              </a:spcBef>
            </a:pPr>
            <a:r>
              <a:rPr lang="en-IN" sz="1200" b="1" dirty="0">
                <a:latin typeface="+mn-lt"/>
              </a:rPr>
              <a:t>Scaled Prototype: </a:t>
            </a:r>
            <a:r>
              <a:rPr lang="en-IN" sz="1200" dirty="0">
                <a:latin typeface="+mn-lt"/>
              </a:rPr>
              <a:t>Cardboard, foam board, hot glue gun, DS18B20 temperature sensors, RTC module, SD card module, 8 GB memory card, CR2032 cell, jumper wires. </a:t>
            </a:r>
          </a:p>
          <a:p>
            <a:pPr>
              <a:spcBef>
                <a:spcPts val="900"/>
              </a:spcBef>
            </a:pPr>
            <a:r>
              <a:rPr lang="en-IN" sz="1200" b="1" dirty="0">
                <a:latin typeface="+mn-lt"/>
              </a:rPr>
              <a:t>Full-Scale Residential Application: </a:t>
            </a:r>
            <a:r>
              <a:rPr lang="en-IN" sz="1200" dirty="0">
                <a:latin typeface="+mn-lt"/>
              </a:rPr>
              <a:t>AAC blocks, thin-bed AAC jointing mortar, reinforcement steel bars, cement-lime plaster, exterior solar-reflective paint, low-emissivity (Low-E) glass, steel door frames, natural clay tiles, insulated UPVC door.</a:t>
            </a:r>
            <a:endParaRPr lang="en-GB" sz="1200" dirty="0">
              <a:latin typeface="+mn-lt"/>
            </a:endParaRPr>
          </a:p>
          <a:p>
            <a:pPr marL="446088" indent="-446088">
              <a:spcBef>
                <a:spcPts val="2600"/>
              </a:spcBef>
              <a:buNone/>
            </a:pPr>
            <a:r>
              <a:rPr lang="en-GB" sz="24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 / Workflow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Literature Review → Problem Identification &amp; Objectives → Conceptual Design → 3D Modeling &amp; Prototype Design → Material Selection → Prototype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Fabrication → Instrumentation &amp; Setup → Data Collection → Results &amp; Analysis → Conclusion &amp; Future Scope</a:t>
            </a:r>
            <a:endParaRPr lang="en-GB" sz="1200" dirty="0">
              <a:latin typeface="+mn-lt"/>
            </a:endParaRPr>
          </a:p>
          <a:p>
            <a:pPr marL="358775" indent="-358775">
              <a:spcBef>
                <a:spcPts val="600"/>
              </a:spcBef>
              <a:buNone/>
            </a:pPr>
            <a:endParaRPr lang="en-GB" sz="1200" b="1" kern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>
              <a:spcBef>
                <a:spcPts val="600"/>
              </a:spcBef>
              <a:buNone/>
            </a:pPr>
            <a:r>
              <a:rPr lang="en-GB" sz="24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Working Principle</a:t>
            </a:r>
            <a:endParaRPr lang="en-GB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Cooling is driven entirely by natural physical phenomena. Ambient air enters through large side window openings, absorbs sensible heat, becomes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buoyant, and rises along the corner-free curved dome surface (stack effect), escaping through a small top opening that acts as a passive air extractor.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Air accelerating from the large inlet openings to smaller exit regions increases velocity and lowers static pressure (Venturi effect), further</a:t>
            </a:r>
          </a:p>
          <a:p>
            <a:pPr marL="358775" indent="-358775">
              <a:spcBef>
                <a:spcPts val="600"/>
              </a:spcBef>
            </a:pPr>
            <a:r>
              <a:rPr lang="en-IN" sz="1200" dirty="0">
                <a:latin typeface="+mn-lt"/>
              </a:rPr>
              <a:t>strengthening indoor air circulation. An exterior reflective coating limits solar heat absorption into the structure.</a:t>
            </a:r>
            <a:endParaRPr lang="en-GB" sz="120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  <a:p>
            <a:pPr marL="358775" indent="-358775">
              <a:spcBef>
                <a:spcPts val="600"/>
              </a:spcBef>
            </a:pPr>
            <a:endParaRPr lang="en-IN" sz="1200" dirty="0">
              <a:latin typeface="+mn-lt"/>
            </a:endParaRPr>
          </a:p>
          <a:p>
            <a:pPr marL="358775" indent="-358775">
              <a:spcBef>
                <a:spcPts val="600"/>
              </a:spcBef>
            </a:pPr>
            <a:endParaRPr lang="en-GB" sz="12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>
              <a:spcBef>
                <a:spcPts val="600"/>
              </a:spcBef>
            </a:pPr>
            <a:r>
              <a:rPr lang="en-GB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 Model / Prototype</a:t>
            </a:r>
          </a:p>
          <a:p>
            <a:pPr marL="358775" indent="-358775">
              <a:spcBef>
                <a:spcPts val="600"/>
              </a:spcBef>
            </a:pPr>
            <a:endParaRPr lang="en-GB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>
              <a:spcBef>
                <a:spcPts val="600"/>
              </a:spcBef>
            </a:pPr>
            <a:endParaRPr lang="en-GB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>
              <a:spcBef>
                <a:spcPts val="600"/>
              </a:spcBef>
            </a:pPr>
            <a:endParaRPr lang="en-GB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>
              <a:spcBef>
                <a:spcPts val="600"/>
              </a:spcBef>
            </a:pPr>
            <a:endParaRPr lang="en-GB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>
              <a:spcBef>
                <a:spcPts val="600"/>
              </a:spcBef>
            </a:pPr>
            <a:endParaRPr lang="en-GB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>
              <a:spcBef>
                <a:spcPts val="600"/>
              </a:spcBef>
            </a:pPr>
            <a:endParaRPr lang="en-GB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>
              <a:spcBef>
                <a:spcPts val="600"/>
              </a:spcBef>
            </a:pPr>
            <a:endParaRPr lang="en-GB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>
              <a:spcBef>
                <a:spcPts val="600"/>
              </a:spcBef>
            </a:pPr>
            <a:endParaRPr lang="en-GB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>
              <a:spcBef>
                <a:spcPts val="600"/>
              </a:spcBef>
            </a:pPr>
            <a:endParaRPr lang="en-GB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>
              <a:spcBef>
                <a:spcPts val="600"/>
              </a:spcBef>
            </a:pPr>
            <a:endParaRPr lang="en-GB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46088" indent="-446088">
              <a:spcBef>
                <a:spcPts val="0"/>
              </a:spcBef>
              <a:buNone/>
            </a:pPr>
            <a:r>
              <a:rPr lang="en-GB" sz="24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Experimental Setup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The scaled cardboard prototype (60 cm x 60 cm) was instrumented with DS18B20 sensors placed at inlet and outlet locations to record indoor (t2)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and outdoor (t1) temperatures. An RTC module time-stamped each reading, and an SD card module logged the data for post processing under real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outdoor exposure conditions.</a:t>
            </a:r>
            <a:endParaRPr lang="en-GB" sz="1200" b="1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054" name="Rectangle 2"/>
          <p:cNvSpPr>
            <a:spLocks noGrp="1" noChangeArrowheads="1"/>
          </p:cNvSpPr>
          <p:nvPr>
            <p:ph type="title"/>
          </p:nvPr>
        </p:nvSpPr>
        <p:spPr>
          <a:xfrm>
            <a:off x="736600" y="2353294"/>
            <a:ext cx="20131088" cy="1409429"/>
          </a:xfrm>
        </p:spPr>
        <p:txBody>
          <a:bodyPr/>
          <a:lstStyle/>
          <a:p>
            <a:r>
              <a:rPr lang="en-IN"/>
              <a:t>PASSIVE COOLING FOR HOME </a:t>
            </a:r>
            <a:endParaRPr lang="en-GB"/>
          </a:p>
        </p:txBody>
      </p:sp>
      <p:sp>
        <p:nvSpPr>
          <p:cNvPr id="2051" name="Text Box 7"/>
          <p:cNvSpPr txBox="1">
            <a:spLocks noChangeArrowheads="1"/>
          </p:cNvSpPr>
          <p:nvPr/>
        </p:nvSpPr>
        <p:spPr bwMode="auto">
          <a:xfrm>
            <a:off x="10982225" y="23688302"/>
            <a:ext cx="9253537" cy="27409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lIns="287990" tIns="179993" rIns="0" bIns="179993">
            <a:spAutoFit/>
          </a:bodyPr>
          <a:lstStyle/>
          <a:p>
            <a:pPr marL="266700" indent="-266700" defTabSz="912813" eaLnBrk="0" hangingPunct="0">
              <a:spcBef>
                <a:spcPts val="1600"/>
              </a:spcBef>
            </a:pPr>
            <a:r>
              <a:rPr lang="en-GB" sz="24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  <a:p>
            <a:pPr marL="266700" indent="-266700" defTabSz="912813" eaLnBrk="0" hangingPunct="0">
              <a:lnSpc>
                <a:spcPct val="125000"/>
              </a:lnSpc>
              <a:spcBef>
                <a:spcPct val="30000"/>
              </a:spcBef>
              <a:buClr>
                <a:schemeClr val="tx2"/>
              </a:buClr>
              <a:buFontTx/>
              <a:buAutoNum type="arabicPeriod"/>
            </a:pPr>
            <a:r>
              <a:rPr lang="en-IN" sz="1200">
                <a:latin typeface="+mn-lt"/>
              </a:rPr>
              <a:t>Givoni, B. (1998). Climate Considerations in Building and Urban Design.</a:t>
            </a:r>
          </a:p>
          <a:p>
            <a:pPr marL="266700" indent="-266700" defTabSz="912813" eaLnBrk="0" hangingPunct="0">
              <a:lnSpc>
                <a:spcPct val="125000"/>
              </a:lnSpc>
              <a:spcBef>
                <a:spcPct val="30000"/>
              </a:spcBef>
              <a:buClr>
                <a:schemeClr val="tx2"/>
              </a:buClr>
              <a:buFontTx/>
              <a:buAutoNum type="arabicPeriod"/>
            </a:pPr>
            <a:r>
              <a:rPr lang="en-IN" sz="1200">
                <a:latin typeface="+mn-lt"/>
              </a:rPr>
              <a:t>John Wiley &amp; Sons. Santamouris, M., &amp; Asimakopoulos, D. (2001).Passive cooling of buildings. </a:t>
            </a:r>
          </a:p>
          <a:p>
            <a:pPr marL="266700" indent="-266700" defTabSz="912813" eaLnBrk="0" hangingPunct="0">
              <a:lnSpc>
                <a:spcPct val="125000"/>
              </a:lnSpc>
              <a:spcBef>
                <a:spcPct val="30000"/>
              </a:spcBef>
              <a:buClr>
                <a:schemeClr val="tx2"/>
              </a:buClr>
              <a:buFontTx/>
              <a:buAutoNum type="arabicPeriod"/>
            </a:pPr>
            <a:r>
              <a:rPr lang="en-IN" sz="1200">
                <a:latin typeface="+mn-lt"/>
              </a:rPr>
              <a:t>Prianto, E., &amp; Depecker, P. (2008). Impact of building geometry on ventilation efficiency. </a:t>
            </a:r>
          </a:p>
          <a:p>
            <a:pPr marL="266700" indent="-266700" defTabSz="912813" eaLnBrk="0" hangingPunct="0">
              <a:lnSpc>
                <a:spcPct val="125000"/>
              </a:lnSpc>
              <a:spcBef>
                <a:spcPct val="30000"/>
              </a:spcBef>
              <a:buClr>
                <a:schemeClr val="tx2"/>
              </a:buClr>
              <a:buFontTx/>
              <a:buAutoNum type="arabicPeriod"/>
            </a:pPr>
            <a:r>
              <a:rPr lang="en-IN" sz="1200">
                <a:latin typeface="+mn-lt"/>
              </a:rPr>
              <a:t>Nair, V. et al. (2019). Venturi effect-based natural ventilation in residential buildings.</a:t>
            </a:r>
          </a:p>
          <a:p>
            <a:pPr defTabSz="912813" eaLnBrk="0" hangingPunct="0">
              <a:lnSpc>
                <a:spcPct val="125000"/>
              </a:lnSpc>
              <a:spcBef>
                <a:spcPct val="30000"/>
              </a:spcBef>
              <a:buClr>
                <a:schemeClr val="tx2"/>
              </a:buClr>
            </a:pPr>
            <a:r>
              <a:rPr lang="en-GB" sz="24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</a:t>
            </a:r>
            <a:endParaRPr lang="en-GB" sz="200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6700" indent="-266700" defTabSz="912813" eaLnBrk="0" hangingPunct="0">
              <a:lnSpc>
                <a:spcPct val="125000"/>
              </a:lnSpc>
              <a:spcBef>
                <a:spcPts val="500"/>
              </a:spcBef>
              <a:buClr>
                <a:schemeClr val="tx2"/>
              </a:buClr>
              <a:buFontTx/>
              <a:buChar char="•"/>
            </a:pPr>
            <a:r>
              <a:rPr lang="en-IN" sz="1200">
                <a:latin typeface="+mn-lt"/>
              </a:rPr>
              <a:t>Dr. K.S. Prabhakaran (HOD) &amp; Mr. A. Kamalakkannan (Supervisor), Dept. of Mechanical Engineering, KIOT, Salem.</a:t>
            </a:r>
            <a:endParaRPr lang="en-GB" sz="1200">
              <a:latin typeface="+mn-lt"/>
              <a:cs typeface="Arial" panose="020B0604020202020204" pitchFamily="34" charset="0"/>
            </a:endParaRPr>
          </a:p>
        </p:txBody>
      </p:sp>
      <p:sp>
        <p:nvSpPr>
          <p:cNvPr id="2052" name="Text Box 8"/>
          <p:cNvSpPr txBox="1">
            <a:spLocks noChangeArrowheads="1"/>
          </p:cNvSpPr>
          <p:nvPr/>
        </p:nvSpPr>
        <p:spPr bwMode="auto">
          <a:xfrm>
            <a:off x="10959531" y="26733275"/>
            <a:ext cx="9253537" cy="12913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lIns="287990" tIns="179993" rIns="0" bIns="179993" anchor="b">
            <a:spAutoFit/>
          </a:bodyPr>
          <a:lstStyle/>
          <a:p>
            <a:pPr marL="266700" indent="-266700" defTabSz="912813" eaLnBrk="0" hangingPunct="0">
              <a:spcBef>
                <a:spcPts val="1600"/>
              </a:spcBef>
            </a:pPr>
            <a:r>
              <a:rPr lang="en-GB" sz="24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information</a:t>
            </a:r>
          </a:p>
          <a:p>
            <a:pPr marL="266700" indent="-266700" defTabSz="912813" eaLnBrk="0" hangingPunct="0">
              <a:lnSpc>
                <a:spcPct val="125000"/>
              </a:lnSpc>
              <a:spcBef>
                <a:spcPts val="500"/>
              </a:spcBef>
              <a:buClr>
                <a:schemeClr val="tx2"/>
              </a:buClr>
              <a:buFontTx/>
              <a:buChar char="•"/>
            </a:pPr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Department of Mechanical engineering, Knowledge Institute of Technology, Salem</a:t>
            </a:r>
          </a:p>
          <a:p>
            <a:pPr marL="266700" indent="-266700" defTabSz="912813" eaLnBrk="0" hangingPunct="0">
              <a:lnSpc>
                <a:spcPct val="125000"/>
              </a:lnSpc>
              <a:spcBef>
                <a:spcPct val="30000"/>
              </a:spcBef>
              <a:buClr>
                <a:schemeClr val="tx2"/>
              </a:buClr>
              <a:buFontTx/>
              <a:buChar char="•"/>
            </a:pPr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Email: </a:t>
            </a:r>
            <a:r>
              <a:rPr lang="en-GB" sz="1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2k23me013@</a:t>
            </a:r>
            <a:r>
              <a:rPr lang="en-GB" sz="1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kiot.ac.in</a:t>
            </a:r>
            <a:r>
              <a:rPr lang="en-GB" sz="1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b="1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1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www.kiot.ac.in</a:t>
            </a:r>
            <a:endParaRPr lang="en-GB" sz="160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6" name="Rectangle 19"/>
          <p:cNvSpPr>
            <a:spLocks noChangeArrowheads="1"/>
          </p:cNvSpPr>
          <p:nvPr/>
        </p:nvSpPr>
        <p:spPr bwMode="auto">
          <a:xfrm>
            <a:off x="1134168" y="25293115"/>
            <a:ext cx="3439346" cy="2446338"/>
          </a:xfrm>
          <a:prstGeom prst="rect">
            <a:avLst/>
          </a:prstGeom>
          <a:noFill/>
          <a:ln w="19050" cap="rnd">
            <a:solidFill>
              <a:schemeClr val="tx2"/>
            </a:solidFill>
            <a:prstDash val="sysDot"/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en-US" sz="1800">
                <a:solidFill>
                  <a:schemeClr val="tx2"/>
                </a:solidFill>
                <a:latin typeface="Arial" charset="0"/>
              </a:rPr>
              <a:t>[Insert QR Code]</a:t>
            </a:r>
          </a:p>
        </p:txBody>
      </p:sp>
      <p:sp>
        <p:nvSpPr>
          <p:cNvPr id="2057" name="Text Box 20"/>
          <p:cNvSpPr txBox="1">
            <a:spLocks noChangeArrowheads="1"/>
          </p:cNvSpPr>
          <p:nvPr/>
        </p:nvSpPr>
        <p:spPr bwMode="auto">
          <a:xfrm>
            <a:off x="6085682" y="25657224"/>
            <a:ext cx="3238500" cy="1508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7" rIns="91436" bIns="45717">
            <a:spAutoFit/>
          </a:bodyPr>
          <a:lstStyle/>
          <a:p>
            <a:r>
              <a:rPr lang="en-GB" sz="20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QR Code — Project Report (PDF) | Source Code Repository | Demonstration Video</a:t>
            </a:r>
            <a:endParaRPr 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53AB2554-C850-4719-A3D9-8A7C5FE0E37B}"/>
              </a:ext>
            </a:extLst>
          </p:cNvPr>
          <p:cNvSpPr txBox="1">
            <a:spLocks/>
          </p:cNvSpPr>
          <p:nvPr/>
        </p:nvSpPr>
        <p:spPr bwMode="auto">
          <a:xfrm>
            <a:off x="10987088" y="5166841"/>
            <a:ext cx="9644062" cy="15060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60000" indent="-360000" algn="l" defTabSz="2952750" rtl="0" eaLnBrk="1" fontAlgn="base" hangingPunct="1">
              <a:lnSpc>
                <a:spcPct val="125000"/>
              </a:lnSpc>
              <a:spcBef>
                <a:spcPts val="1400"/>
              </a:spcBef>
              <a:spcAft>
                <a:spcPct val="0"/>
              </a:spcAft>
              <a:buClr>
                <a:schemeClr val="tx2"/>
              </a:buClr>
              <a:buChar char="•"/>
              <a:defRPr sz="19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20000" indent="-360000" algn="l" defTabSz="2952750" rtl="0" eaLnBrk="1" fontAlgn="base" hangingPunct="1">
              <a:lnSpc>
                <a:spcPct val="125000"/>
              </a:lnSpc>
              <a:spcBef>
                <a:spcPts val="1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 algn="l" defTabSz="2952750" rtl="0" eaLnBrk="1" fontAlgn="base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Rdg Vesta" pitchFamily="2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50000" indent="-270000" algn="l" defTabSz="2952750" rtl="0" eaLnBrk="1" fontAlgn="base" hangingPunct="1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30000" indent="-180000" algn="l" defTabSz="2952750" rtl="0" eaLnBrk="1" fontAlgn="base" hangingPunct="1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Clr>
                <a:schemeClr val="tx2"/>
              </a:buClr>
              <a:buFont typeface="Rdg Vesta" pitchFamily="2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3019425" indent="-738188" algn="l" defTabSz="2952750" rtl="0" eaLnBrk="1" fontAlgn="base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3476625" indent="-738188" algn="l" defTabSz="2952750" rtl="0" eaLnBrk="1" fontAlgn="base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933825" indent="-738188" algn="l" defTabSz="2952750" rtl="0" eaLnBrk="1" fontAlgn="base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4391025" indent="-738188" algn="l" defTabSz="2952750" rtl="0" eaLnBrk="1" fontAlgn="base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446088" indent="-446088">
              <a:spcBef>
                <a:spcPts val="2600"/>
              </a:spcBef>
              <a:buNone/>
            </a:pPr>
            <a:r>
              <a:rPr lang="en-GB" sz="2400" b="1">
                <a:solidFill>
                  <a:schemeClr val="tx2"/>
                </a:solidFill>
                <a:latin typeface="+mn-lt"/>
              </a:rPr>
              <a:t>Recorded Data (sample)</a:t>
            </a:r>
          </a:p>
          <a:p>
            <a:pPr marL="446088" indent="-446088">
              <a:spcBef>
                <a:spcPts val="2600"/>
              </a:spcBef>
              <a:buNone/>
            </a:pPr>
            <a:endParaRPr lang="en-GB" sz="2800" b="1">
              <a:solidFill>
                <a:schemeClr val="tx2"/>
              </a:solidFill>
            </a:endParaRPr>
          </a:p>
          <a:p>
            <a:pPr marL="446088" indent="-446088">
              <a:spcBef>
                <a:spcPts val="2600"/>
              </a:spcBef>
              <a:buNone/>
            </a:pPr>
            <a:endParaRPr lang="en-GB" sz="3000" b="1">
              <a:solidFill>
                <a:schemeClr val="tx2"/>
              </a:solidFill>
            </a:endParaRPr>
          </a:p>
          <a:p>
            <a:pPr marL="446088" indent="-446088">
              <a:spcBef>
                <a:spcPts val="2600"/>
              </a:spcBef>
              <a:buNone/>
            </a:pPr>
            <a:r>
              <a:rPr lang="en-GB" sz="2400" b="1" kern="12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 marL="446088" indent="-446088">
              <a:spcBef>
                <a:spcPts val="2600"/>
              </a:spcBef>
              <a:buNone/>
            </a:pPr>
            <a:endParaRPr lang="en-GB" sz="3000" b="1" kern="12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46088" indent="-446088">
              <a:spcBef>
                <a:spcPts val="2600"/>
              </a:spcBef>
              <a:buNone/>
            </a:pPr>
            <a:r>
              <a:rPr lang="en-GB" sz="3000" b="1" kern="12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446088" indent="-446088">
              <a:lnSpc>
                <a:spcPct val="100000"/>
              </a:lnSpc>
              <a:spcBef>
                <a:spcPts val="2600"/>
              </a:spcBef>
              <a:buNone/>
            </a:pPr>
            <a:r>
              <a:rPr lang="en-GB" sz="2400" b="1" kern="120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Performance Evaluation</a:t>
            </a:r>
          </a:p>
          <a:p>
            <a:pPr>
              <a:spcBef>
                <a:spcPts val="700"/>
              </a:spcBef>
            </a:pPr>
            <a:endParaRPr lang="en-GB" sz="1000"/>
          </a:p>
          <a:p>
            <a:pPr marL="446088" indent="-446088">
              <a:spcBef>
                <a:spcPts val="2600"/>
              </a:spcBef>
              <a:buNone/>
            </a:pPr>
            <a:endParaRPr lang="en-GB" sz="3000" b="1">
              <a:solidFill>
                <a:schemeClr val="tx2"/>
              </a:solidFill>
            </a:endParaRPr>
          </a:p>
          <a:p>
            <a:pPr marL="446088" indent="-446088">
              <a:spcBef>
                <a:spcPts val="2600"/>
              </a:spcBef>
              <a:buNone/>
            </a:pPr>
            <a:endParaRPr lang="en-GB" sz="3000" b="1">
              <a:solidFill>
                <a:schemeClr val="tx2"/>
              </a:solidFill>
            </a:endParaRPr>
          </a:p>
          <a:p>
            <a:pPr marL="446088" indent="-446088">
              <a:spcBef>
                <a:spcPts val="2600"/>
              </a:spcBef>
              <a:buNone/>
            </a:pPr>
            <a:r>
              <a:rPr lang="en-GB" sz="2400" b="1" kern="12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 Encountered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 b="1">
                <a:latin typeface="+mn-lt"/>
              </a:rPr>
              <a:t>Challenge</a:t>
            </a:r>
            <a:r>
              <a:rPr lang="en-IN" sz="1200">
                <a:latin typeface="+mn-lt"/>
              </a:rPr>
              <a:t>: Cardboard does not replicate real building thermal mass or conductivity. </a:t>
            </a:r>
            <a:br>
              <a:rPr lang="en-IN" sz="1200">
                <a:latin typeface="+mn-lt"/>
              </a:rPr>
            </a:br>
            <a:r>
              <a:rPr lang="en-IN" sz="1200" b="1">
                <a:latin typeface="+mn-lt"/>
              </a:rPr>
              <a:t>Solution</a:t>
            </a:r>
            <a:r>
              <a:rPr lang="en-IN" sz="1200">
                <a:latin typeface="+mn-lt"/>
              </a:rPr>
              <a:t>: Used foam board (low k, approx. 0.03-0.05 W/</a:t>
            </a:r>
            <a:r>
              <a:rPr lang="en-IN" sz="1200" err="1">
                <a:latin typeface="+mn-lt"/>
              </a:rPr>
              <a:t>m.K</a:t>
            </a:r>
            <a:r>
              <a:rPr lang="en-IN" sz="1200">
                <a:latin typeface="+mn-lt"/>
              </a:rPr>
              <a:t>) for walls/roof to isolate and clearly observe airflow-driven cooling rather than material heat storage.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 b="1">
                <a:latin typeface="+mn-lt"/>
              </a:rPr>
              <a:t>Challenge</a:t>
            </a:r>
            <a:r>
              <a:rPr lang="en-IN" sz="1200">
                <a:latin typeface="+mn-lt"/>
              </a:rPr>
              <a:t>: Reliable time-synced data logging outdoors. </a:t>
            </a:r>
            <a:br>
              <a:rPr lang="en-IN" sz="1200">
                <a:latin typeface="+mn-lt"/>
              </a:rPr>
            </a:br>
            <a:r>
              <a:rPr lang="en-IN" sz="1200" b="1">
                <a:latin typeface="+mn-lt"/>
              </a:rPr>
              <a:t>Solution</a:t>
            </a:r>
            <a:r>
              <a:rPr lang="en-IN" sz="1200">
                <a:latin typeface="+mn-lt"/>
              </a:rPr>
              <a:t>: Combined RTC module + SD card logging for continuous, non-volatile, time-stamped temperature records.</a:t>
            </a:r>
            <a:endParaRPr lang="en-GB" sz="1000"/>
          </a:p>
          <a:p>
            <a:pPr marL="446088" indent="-446088">
              <a:spcBef>
                <a:spcPts val="2600"/>
              </a:spcBef>
              <a:buNone/>
            </a:pPr>
            <a:r>
              <a:rPr lang="en-GB" sz="2400" b="1" kern="12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Innovation / Novel Features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>
                <a:latin typeface="+mn-lt"/>
              </a:rPr>
              <a:t>A corner-free semi-cylindrical dome roof that jointly exploits the stack effect and Venturi effect for continuous passive ventilation, paired with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>
                <a:latin typeface="+mn-lt"/>
              </a:rPr>
              <a:t>a direct materials pathway (AAC blocks, Low-E glass, reflective coatings) from low-cost prototype to full-scale residential construction.</a:t>
            </a:r>
            <a:endParaRPr lang="en-GB" sz="1200">
              <a:latin typeface="+mn-lt"/>
            </a:endParaRPr>
          </a:p>
          <a:p>
            <a:pPr marL="446088" indent="-446088">
              <a:lnSpc>
                <a:spcPct val="100000"/>
              </a:lnSpc>
              <a:spcBef>
                <a:spcPts val="2600"/>
              </a:spcBef>
              <a:buNone/>
            </a:pPr>
            <a:r>
              <a:rPr lang="en-GB" sz="2400" b="1" kern="12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Applications</a:t>
            </a:r>
            <a:endParaRPr lang="en-GB" sz="3000" b="1" kern="12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>
                <a:latin typeface="+mn-lt"/>
              </a:rPr>
              <a:t>Residential buildings in hot, dry regions 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>
                <a:latin typeface="+mn-lt"/>
              </a:rPr>
              <a:t>Low-cost and rural housing projects 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>
                <a:latin typeface="+mn-lt"/>
              </a:rPr>
              <a:t>Temporary shelters / emergency housing 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>
                <a:latin typeface="+mn-lt"/>
              </a:rPr>
              <a:t>Schools, hostels, and community halls</a:t>
            </a:r>
            <a:endParaRPr lang="en-GB" sz="1200">
              <a:latin typeface="+mn-lt"/>
            </a:endParaRPr>
          </a:p>
          <a:p>
            <a:pPr marL="446088" indent="-446088">
              <a:lnSpc>
                <a:spcPct val="100000"/>
              </a:lnSpc>
              <a:spcBef>
                <a:spcPts val="2600"/>
              </a:spcBef>
              <a:buNone/>
            </a:pPr>
            <a:r>
              <a:rPr lang="en-GB" sz="2400" b="1" kern="12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Scope</a:t>
            </a:r>
          </a:p>
          <a:p>
            <a:pPr lvl="1">
              <a:spcBef>
                <a:spcPts val="600"/>
              </a:spcBef>
            </a:pPr>
            <a:r>
              <a:rPr lang="en-IN" sz="1200">
                <a:latin typeface="+mn-lt"/>
              </a:rPr>
              <a:t>Full-scale build using AAC blocks, reflective coatings, and Low-E glass </a:t>
            </a:r>
          </a:p>
          <a:p>
            <a:pPr lvl="1">
              <a:spcBef>
                <a:spcPts val="600"/>
              </a:spcBef>
            </a:pPr>
            <a:r>
              <a:rPr lang="en-IN" sz="1200">
                <a:latin typeface="+mn-lt"/>
              </a:rPr>
              <a:t>CFD validation using ANSYS / Energy Plus simulation </a:t>
            </a:r>
          </a:p>
          <a:p>
            <a:pPr lvl="1">
              <a:spcBef>
                <a:spcPts val="600"/>
              </a:spcBef>
            </a:pPr>
            <a:r>
              <a:rPr lang="en-IN" sz="1200">
                <a:latin typeface="+mn-lt"/>
              </a:rPr>
              <a:t>Integration of wind catchers, roof ventilators, earth-air tunnels </a:t>
            </a:r>
          </a:p>
          <a:p>
            <a:pPr lvl="1">
              <a:spcBef>
                <a:spcPts val="600"/>
              </a:spcBef>
            </a:pPr>
            <a:r>
              <a:rPr lang="en-IN" sz="1200">
                <a:latin typeface="+mn-lt"/>
              </a:rPr>
              <a:t>IoT-based long-term seasonal monitoring; solar panel integration</a:t>
            </a:r>
            <a:endParaRPr lang="en-GB" sz="10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085CF8-F8CB-0AFE-37A9-5D11982C96F2}"/>
              </a:ext>
            </a:extLst>
          </p:cNvPr>
          <p:cNvSpPr txBox="1"/>
          <p:nvPr/>
        </p:nvSpPr>
        <p:spPr bwMode="auto">
          <a:xfrm flipH="1">
            <a:off x="780141" y="16200162"/>
            <a:ext cx="8640814" cy="180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>
            <a:spAutoFit/>
          </a:bodyPr>
          <a:lstStyle/>
          <a:p>
            <a:pPr marL="455613" indent="-455613" algn="ctr" defTabSz="2952750" eaLnBrk="0" hangingPunct="0">
              <a:lnSpc>
                <a:spcPct val="105000"/>
              </a:lnSpc>
              <a:spcBef>
                <a:spcPts val="4400"/>
              </a:spcBef>
              <a:spcAft>
                <a:spcPts val="0"/>
              </a:spcAft>
              <a:buClr>
                <a:schemeClr val="tx2"/>
              </a:buClr>
            </a:pPr>
            <a:r>
              <a:rPr lang="en-IN" sz="1200" dirty="0" err="1">
                <a:latin typeface="+mn-lt"/>
              </a:rPr>
              <a:t>Qsolar</a:t>
            </a:r>
            <a:r>
              <a:rPr lang="en-IN" sz="1200" dirty="0">
                <a:latin typeface="+mn-lt"/>
              </a:rPr>
              <a:t> = α I A | ΔP = </a:t>
            </a:r>
            <a:r>
              <a:rPr lang="en-IN" sz="1200" dirty="0" err="1">
                <a:latin typeface="+mn-lt"/>
              </a:rPr>
              <a:t>ρgH</a:t>
            </a:r>
            <a:r>
              <a:rPr lang="en-IN" sz="1200" dirty="0">
                <a:latin typeface="+mn-lt"/>
              </a:rPr>
              <a:t> (Ti - To) / To | </a:t>
            </a:r>
            <a:r>
              <a:rPr lang="en-IN" sz="1200" dirty="0" err="1">
                <a:latin typeface="+mn-lt"/>
              </a:rPr>
              <a:t>Qair</a:t>
            </a:r>
            <a:r>
              <a:rPr lang="en-IN" sz="1200" dirty="0">
                <a:latin typeface="+mn-lt"/>
              </a:rPr>
              <a:t> = ṁ cp (Ti - To)</a:t>
            </a:r>
            <a:endParaRPr lang="en-IN" sz="1200" b="1" kern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9187F-81E3-C195-D7F8-4EEE68B60F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414" y="18229775"/>
            <a:ext cx="426656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A3114C7-0B67-543C-700D-CC3AF5AB3C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5750" y="18229775"/>
            <a:ext cx="3728437" cy="285750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D624D2E-0364-1F2B-8F0B-507C1877C7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128973"/>
              </p:ext>
            </p:extLst>
          </p:nvPr>
        </p:nvGraphicFramePr>
        <p:xfrm>
          <a:off x="11091924" y="5809046"/>
          <a:ext cx="9434391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44797">
                  <a:extLst>
                    <a:ext uri="{9D8B030D-6E8A-4147-A177-3AD203B41FA5}">
                      <a16:colId xmlns:a16="http://schemas.microsoft.com/office/drawing/2014/main" val="461242801"/>
                    </a:ext>
                  </a:extLst>
                </a:gridCol>
                <a:gridCol w="3144797">
                  <a:extLst>
                    <a:ext uri="{9D8B030D-6E8A-4147-A177-3AD203B41FA5}">
                      <a16:colId xmlns:a16="http://schemas.microsoft.com/office/drawing/2014/main" val="3270429216"/>
                    </a:ext>
                  </a:extLst>
                </a:gridCol>
                <a:gridCol w="3144797">
                  <a:extLst>
                    <a:ext uri="{9D8B030D-6E8A-4147-A177-3AD203B41FA5}">
                      <a16:colId xmlns:a16="http://schemas.microsoft.com/office/drawing/2014/main" val="2397190397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r>
                        <a:rPr lang="en-US" sz="1200" b="1"/>
                        <a:t>Time</a:t>
                      </a:r>
                      <a:endParaRPr lang="en-IN" sz="1400" b="1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Outdoor T1 (°C)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Indoor T2 (°C)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7737661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r>
                        <a:rPr lang="en-US" sz="1200"/>
                        <a:t>9:30 AM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30.12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27.55</a:t>
                      </a:r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64235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r>
                        <a:rPr lang="en-US" sz="1200"/>
                        <a:t>10:00 AM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29.10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27.01</a:t>
                      </a:r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4076289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r>
                        <a:rPr lang="en-US" sz="1200"/>
                        <a:t>11:00 AM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28.90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26.30</a:t>
                      </a:r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099184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r>
                        <a:rPr lang="en-US" sz="1200"/>
                        <a:t>12:00 AM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28.50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26.19</a:t>
                      </a:r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231217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r>
                        <a:rPr lang="en-US" sz="1200"/>
                        <a:t>1:00 PM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26.90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25.17</a:t>
                      </a:r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8524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527AAEC-7A86-BDEC-617D-89DC7922D4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9838141"/>
              </p:ext>
            </p:extLst>
          </p:nvPr>
        </p:nvGraphicFramePr>
        <p:xfrm>
          <a:off x="11091923" y="8411631"/>
          <a:ext cx="9434392" cy="18474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0621">
                  <a:extLst>
                    <a:ext uri="{9D8B030D-6E8A-4147-A177-3AD203B41FA5}">
                      <a16:colId xmlns:a16="http://schemas.microsoft.com/office/drawing/2014/main" val="2483050442"/>
                    </a:ext>
                  </a:extLst>
                </a:gridCol>
                <a:gridCol w="6663771">
                  <a:extLst>
                    <a:ext uri="{9D8B030D-6E8A-4147-A177-3AD203B41FA5}">
                      <a16:colId xmlns:a16="http://schemas.microsoft.com/office/drawing/2014/main" val="2593327389"/>
                    </a:ext>
                  </a:extLst>
                </a:gridCol>
              </a:tblGrid>
              <a:tr h="255709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Module</a:t>
                      </a:r>
                      <a:endParaRPr lang="en-IN" sz="12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Result</a:t>
                      </a:r>
                      <a:endParaRPr lang="en-IN" sz="12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520456"/>
                  </a:ext>
                </a:extLst>
              </a:tr>
              <a:tr h="393273">
                <a:tc>
                  <a:txBody>
                    <a:bodyPr/>
                    <a:lstStyle/>
                    <a:p>
                      <a:r>
                        <a:rPr lang="en-IN" sz="1200"/>
                        <a:t>Prototype Fabrication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Semi-cylindrical dome cardboard prototype successfully built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562533"/>
                  </a:ext>
                </a:extLst>
              </a:tr>
              <a:tr h="393273">
                <a:tc>
                  <a:txBody>
                    <a:bodyPr/>
                    <a:lstStyle/>
                    <a:p>
                      <a:r>
                        <a:rPr lang="en-IN" sz="1200"/>
                        <a:t>Temperature Monitoring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Indoor vs outdoor temperature logged continuously via RTC + SD card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522783"/>
                  </a:ext>
                </a:extLst>
              </a:tr>
              <a:tr h="393273">
                <a:tc>
                  <a:txBody>
                    <a:bodyPr/>
                    <a:lstStyle/>
                    <a:p>
                      <a:r>
                        <a:rPr lang="en-IN" sz="1200"/>
                        <a:t>Cooling Performance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Indoor temperature stayed 2-3°C lower than outdoor, especially at peak exposure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136857"/>
                  </a:ext>
                </a:extLst>
              </a:tr>
              <a:tr h="393273">
                <a:tc>
                  <a:txBody>
                    <a:bodyPr/>
                    <a:lstStyle/>
                    <a:p>
                      <a:r>
                        <a:rPr lang="en-IN" sz="1200"/>
                        <a:t>Airflow Behaviour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Noticeable natural airflow confirmed combined stack + Venturi effect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68391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08B3276-1264-740A-B392-9F3ABE3A5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691041"/>
              </p:ext>
            </p:extLst>
          </p:nvPr>
        </p:nvGraphicFramePr>
        <p:xfrm>
          <a:off x="11091923" y="10963523"/>
          <a:ext cx="9434392" cy="18474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17196">
                  <a:extLst>
                    <a:ext uri="{9D8B030D-6E8A-4147-A177-3AD203B41FA5}">
                      <a16:colId xmlns:a16="http://schemas.microsoft.com/office/drawing/2014/main" val="2166792968"/>
                    </a:ext>
                  </a:extLst>
                </a:gridCol>
                <a:gridCol w="4717196">
                  <a:extLst>
                    <a:ext uri="{9D8B030D-6E8A-4147-A177-3AD203B41FA5}">
                      <a16:colId xmlns:a16="http://schemas.microsoft.com/office/drawing/2014/main" val="3186563623"/>
                    </a:ext>
                  </a:extLst>
                </a:gridCol>
              </a:tblGrid>
              <a:tr h="307902">
                <a:tc>
                  <a:txBody>
                    <a:bodyPr/>
                    <a:lstStyle/>
                    <a:p>
                      <a:r>
                        <a:rPr lang="en-US" sz="1200" b="1"/>
                        <a:t>Metric </a:t>
                      </a:r>
                      <a:endParaRPr lang="en-IN" sz="1200" b="1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Outcomes</a:t>
                      </a:r>
                      <a:endParaRPr lang="en-IN" sz="1200" b="1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981855"/>
                  </a:ext>
                </a:extLst>
              </a:tr>
              <a:tr h="307902">
                <a:tc>
                  <a:txBody>
                    <a:bodyPr/>
                    <a:lstStyle/>
                    <a:p>
                      <a:r>
                        <a:rPr lang="en-IN" sz="1200"/>
                        <a:t>Indoor Temperature Reduction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Approx. 2-3°C vs outdoor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362255"/>
                  </a:ext>
                </a:extLst>
              </a:tr>
              <a:tr h="307902">
                <a:tc>
                  <a:txBody>
                    <a:bodyPr/>
                    <a:lstStyle/>
                    <a:p>
                      <a:r>
                        <a:rPr lang="en-IN" sz="1200"/>
                        <a:t>Cooling Method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Fully passive, no electrical input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758683"/>
                  </a:ext>
                </a:extLst>
              </a:tr>
              <a:tr h="307902">
                <a:tc>
                  <a:txBody>
                    <a:bodyPr/>
                    <a:lstStyle/>
                    <a:p>
                      <a:r>
                        <a:rPr lang="en-IN" sz="1200"/>
                        <a:t>Prototype Cost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Rs. 1,420 (scaled model)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080089"/>
                  </a:ext>
                </a:extLst>
              </a:tr>
              <a:tr h="307902">
                <a:tc>
                  <a:txBody>
                    <a:bodyPr/>
                    <a:lstStyle/>
                    <a:p>
                      <a:r>
                        <a:rPr lang="en-IN" sz="1200"/>
                        <a:t>Full-Scale Estimated Cost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Rs. 56,000 (materials)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2843212"/>
                  </a:ext>
                </a:extLst>
              </a:tr>
              <a:tr h="307902">
                <a:tc>
                  <a:txBody>
                    <a:bodyPr/>
                    <a:lstStyle/>
                    <a:p>
                      <a:r>
                        <a:rPr lang="en-IN" sz="1200"/>
                        <a:t>System Stability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Consistent cooling trend across observation period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30379"/>
                  </a:ext>
                </a:extLst>
              </a:tr>
            </a:tbl>
          </a:graphicData>
        </a:graphic>
      </p:graphicFrame>
      <p:sp>
        <p:nvSpPr>
          <p:cNvPr id="22" name="object 41">
            <a:extLst>
              <a:ext uri="{FF2B5EF4-FFF2-40B4-BE49-F238E27FC236}">
                <a16:creationId xmlns:a16="http://schemas.microsoft.com/office/drawing/2014/main" id="{DDE1FC1B-31FE-399D-B1BE-21F27F83C87D}"/>
              </a:ext>
            </a:extLst>
          </p:cNvPr>
          <p:cNvSpPr txBox="1"/>
          <p:nvPr/>
        </p:nvSpPr>
        <p:spPr>
          <a:xfrm>
            <a:off x="10982225" y="20252555"/>
            <a:ext cx="9644062" cy="1544461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509"/>
              </a:spcBef>
              <a:buClr>
                <a:srgbClr val="148473"/>
              </a:buClr>
              <a:tabLst>
                <a:tab pos="251460" algn="l"/>
              </a:tabLst>
            </a:pPr>
            <a:r>
              <a:rPr lang="en-US" sz="2400" b="1">
                <a:solidFill>
                  <a:srgbClr val="158473"/>
                </a:solidFill>
                <a:latin typeface="Arial"/>
                <a:cs typeface="Arial"/>
              </a:rPr>
              <a:t>Skills Acquired</a:t>
            </a:r>
          </a:p>
          <a:p>
            <a:pPr marL="708660" lvl="1" indent="-238760">
              <a:lnSpc>
                <a:spcPct val="150000"/>
              </a:lnSpc>
              <a:spcBef>
                <a:spcPts val="509"/>
              </a:spcBef>
              <a:buClr>
                <a:srgbClr val="148473"/>
              </a:buClr>
              <a:buFont typeface="Arial MT"/>
              <a:buChar char="•"/>
              <a:tabLst>
                <a:tab pos="251460" algn="l"/>
              </a:tabLst>
            </a:pPr>
            <a:r>
              <a:rPr sz="1200" b="1">
                <a:latin typeface="Arial"/>
                <a:cs typeface="Arial"/>
              </a:rPr>
              <a:t>Technical</a:t>
            </a:r>
            <a:r>
              <a:rPr sz="1200" b="1" spc="5">
                <a:latin typeface="Arial"/>
                <a:cs typeface="Arial"/>
              </a:rPr>
              <a:t> </a:t>
            </a:r>
            <a:r>
              <a:rPr sz="1200" b="1">
                <a:latin typeface="Arial"/>
                <a:cs typeface="Arial"/>
              </a:rPr>
              <a:t>Skill:</a:t>
            </a:r>
            <a:r>
              <a:rPr lang="en-US" sz="1200" b="1">
                <a:latin typeface="Arial"/>
                <a:cs typeface="Arial"/>
              </a:rPr>
              <a:t> </a:t>
            </a:r>
            <a:r>
              <a:rPr lang="en-US" sz="1200">
                <a:latin typeface="+mn-lt"/>
                <a:cs typeface="Arial"/>
              </a:rPr>
              <a:t>3D CAD modeling, CFD simulation (ANSYS Workbench), heat transfer analysis, sensor interfacing (DS18B20), RTC, SD card, data logging &amp; analysis</a:t>
            </a:r>
          </a:p>
          <a:p>
            <a:pPr marL="708660" lvl="1" indent="-238760">
              <a:lnSpc>
                <a:spcPct val="150000"/>
              </a:lnSpc>
              <a:spcBef>
                <a:spcPts val="509"/>
              </a:spcBef>
              <a:buClr>
                <a:srgbClr val="148473"/>
              </a:buClr>
              <a:buFont typeface="Arial MT"/>
              <a:buChar char="•"/>
              <a:tabLst>
                <a:tab pos="251460" algn="l"/>
              </a:tabLst>
            </a:pPr>
            <a:r>
              <a:rPr lang="en-US" sz="1200" b="1">
                <a:latin typeface="Arial"/>
                <a:cs typeface="Arial"/>
              </a:rPr>
              <a:t>Soft</a:t>
            </a:r>
            <a:r>
              <a:rPr lang="en-US" sz="1200" b="1" spc="5">
                <a:latin typeface="Arial"/>
                <a:cs typeface="Arial"/>
              </a:rPr>
              <a:t> </a:t>
            </a:r>
            <a:r>
              <a:rPr lang="en-US" sz="1200" b="1">
                <a:latin typeface="Arial"/>
                <a:cs typeface="Arial"/>
              </a:rPr>
              <a:t>Skill:</a:t>
            </a:r>
            <a:r>
              <a:rPr lang="en-US" sz="1200" b="1" spc="5">
                <a:latin typeface="Arial"/>
                <a:cs typeface="Arial"/>
              </a:rPr>
              <a:t> </a:t>
            </a:r>
            <a:r>
              <a:rPr lang="en-US" sz="1200">
                <a:latin typeface="Arial (Body)"/>
              </a:rPr>
              <a:t>Teamwork, field research, technical documentation, project management.</a:t>
            </a:r>
            <a:endParaRPr lang="en-US" sz="1200">
              <a:latin typeface="Arial MT"/>
              <a:cs typeface="Arial MT"/>
            </a:endParaRPr>
          </a:p>
        </p:txBody>
      </p:sp>
      <p:sp>
        <p:nvSpPr>
          <p:cNvPr id="24" name="object 37">
            <a:extLst>
              <a:ext uri="{FF2B5EF4-FFF2-40B4-BE49-F238E27FC236}">
                <a16:creationId xmlns:a16="http://schemas.microsoft.com/office/drawing/2014/main" id="{007B4FAB-2311-8523-BD17-B6430B35EF7A}"/>
              </a:ext>
            </a:extLst>
          </p:cNvPr>
          <p:cNvSpPr txBox="1"/>
          <p:nvPr/>
        </p:nvSpPr>
        <p:spPr>
          <a:xfrm>
            <a:off x="10986701" y="22084896"/>
            <a:ext cx="9639586" cy="111998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400" b="1">
                <a:solidFill>
                  <a:srgbClr val="148473"/>
                </a:solidFill>
                <a:latin typeface="Arial"/>
                <a:cs typeface="Arial"/>
              </a:rPr>
              <a:t>Project</a:t>
            </a:r>
            <a:r>
              <a:rPr sz="2400" b="1" spc="-50">
                <a:solidFill>
                  <a:srgbClr val="148473"/>
                </a:solidFill>
                <a:latin typeface="Arial"/>
                <a:cs typeface="Arial"/>
              </a:rPr>
              <a:t> </a:t>
            </a:r>
            <a:r>
              <a:rPr lang="en-US" sz="2400" b="1" spc="-10">
                <a:solidFill>
                  <a:srgbClr val="148473"/>
                </a:solidFill>
                <a:latin typeface="Arial"/>
                <a:cs typeface="Arial"/>
              </a:rPr>
              <a:t>Outcom</a:t>
            </a:r>
            <a:r>
              <a:rPr sz="2400" b="1" spc="-10">
                <a:solidFill>
                  <a:srgbClr val="148473"/>
                </a:solidFill>
                <a:latin typeface="Arial"/>
                <a:cs typeface="Arial"/>
              </a:rPr>
              <a:t>es</a:t>
            </a:r>
            <a:endParaRPr sz="2400">
              <a:latin typeface="Arial"/>
              <a:cs typeface="Arial"/>
            </a:endParaRPr>
          </a:p>
          <a:p>
            <a:pPr marL="12700" marR="5080" algn="just">
              <a:lnSpc>
                <a:spcPct val="126499"/>
              </a:lnSpc>
              <a:spcBef>
                <a:spcPts val="490"/>
              </a:spcBef>
            </a:pPr>
            <a:r>
              <a:rPr lang="en-IN" sz="1200">
                <a:latin typeface="+mn-lt"/>
              </a:rPr>
              <a:t>A working passive-cooling prototype was developed and experimentally validated, demonstrating a 2-3°C indoor temperature reduction without any mechanical cooling, confirming the feasibility of dome-based passive cooling for sustainable, low-energy residential design in hot and tropical climates.</a:t>
            </a:r>
            <a:endParaRPr sz="1200">
              <a:latin typeface="+mn-l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351423776"/>
      </p:ext>
    </p:extLst>
  </p:cSld>
  <p:clrMapOvr>
    <a:masterClrMapping/>
  </p:clrMapOvr>
</p:sld>
</file>

<file path=ppt/theme/theme1.xml><?xml version="1.0" encoding="utf-8"?>
<a:theme xmlns:a="http://schemas.openxmlformats.org/drawingml/2006/main" name="KIOT #CE4F2F">
  <a:themeElements>
    <a:clrScheme name="01 KIOT Conference #178473">
      <a:dk1>
        <a:srgbClr val="000000"/>
      </a:dk1>
      <a:lt1>
        <a:srgbClr val="FFFFFF"/>
      </a:lt1>
      <a:dk2>
        <a:srgbClr val="158473"/>
      </a:dk2>
      <a:lt2>
        <a:srgbClr val="808080"/>
      </a:lt2>
      <a:accent1>
        <a:srgbClr val="7AFDE9"/>
      </a:accent1>
      <a:accent2>
        <a:srgbClr val="5BD1BF"/>
      </a:accent2>
      <a:accent3>
        <a:srgbClr val="FFFFFF"/>
      </a:accent3>
      <a:accent4>
        <a:srgbClr val="086154"/>
      </a:accent4>
      <a:accent5>
        <a:srgbClr val="5BD1BF"/>
      </a:accent5>
      <a:accent6>
        <a:srgbClr val="000000"/>
      </a:accent6>
      <a:hlink>
        <a:srgbClr val="158473"/>
      </a:hlink>
      <a:folHlink>
        <a:srgbClr val="08615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lIns="0" tIns="0" rIns="0" bIns="0"/>
      <a:lstStyle>
        <a:defPPr marL="455613" indent="-455613" algn="l" defTabSz="2952750" eaLnBrk="0" hangingPunct="0">
          <a:lnSpc>
            <a:spcPct val="105000"/>
          </a:lnSpc>
          <a:spcBef>
            <a:spcPts val="4400"/>
          </a:spcBef>
          <a:spcAft>
            <a:spcPts val="0"/>
          </a:spcAft>
          <a:buClr>
            <a:schemeClr val="tx2"/>
          </a:buClr>
          <a:defRPr sz="4100" b="1" kern="0" dirty="0">
            <a:solidFill>
              <a:schemeClr val="tx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27825 KIOT Conference 2022 portrait HT v2.pptx" id="{F18A0F39-BBEB-43DB-BFD6-81A744C52318}" vid="{8D687D27-B946-4FBA-8150-9F172FBFD3DC}"/>
    </a:ext>
  </a:extLst>
</a:theme>
</file>

<file path=ppt/theme/theme2.xml><?xml version="1.0" encoding="utf-8"?>
<a:theme xmlns:a="http://schemas.openxmlformats.org/drawingml/2006/main" name="KIOT #C74486">
  <a:themeElements>
    <a:clrScheme name="03 KIOT Conference #C74486">
      <a:dk1>
        <a:srgbClr val="000000"/>
      </a:dk1>
      <a:lt1>
        <a:srgbClr val="FFFFFF"/>
      </a:lt1>
      <a:dk2>
        <a:srgbClr val="C74486"/>
      </a:dk2>
      <a:lt2>
        <a:srgbClr val="808080"/>
      </a:lt2>
      <a:accent1>
        <a:srgbClr val="FCAAD3"/>
      </a:accent1>
      <a:accent2>
        <a:srgbClr val="DB8EB5"/>
      </a:accent2>
      <a:accent3>
        <a:srgbClr val="FFFFFF"/>
      </a:accent3>
      <a:accent4>
        <a:srgbClr val="810443"/>
      </a:accent4>
      <a:accent5>
        <a:srgbClr val="DB8EB5"/>
      </a:accent5>
      <a:accent6>
        <a:srgbClr val="000000"/>
      </a:accent6>
      <a:hlink>
        <a:srgbClr val="C74486"/>
      </a:hlink>
      <a:folHlink>
        <a:srgbClr val="81044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B27825 KIOT Conference 2022 portrait HT v2.pptx" id="{F18A0F39-BBEB-43DB-BFD6-81A744C52318}" vid="{EDDCA094-D80C-4D1A-9F56-52CCF7C6B5E1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KIOT_PBL_Poster_Template</Template>
  <TotalTime>1</TotalTime>
  <Words>1142</Words>
  <Application>Microsoft Office PowerPoint</Application>
  <PresentationFormat>Custom</PresentationFormat>
  <Paragraphs>134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 (Body)</vt:lpstr>
      <vt:lpstr>Arial</vt:lpstr>
      <vt:lpstr>Arial MT</vt:lpstr>
      <vt:lpstr>Rdg Vesta</vt:lpstr>
      <vt:lpstr>KIOT #CE4F2F</vt:lpstr>
      <vt:lpstr>KIOT #C74486</vt:lpstr>
      <vt:lpstr>PASSIVE COOLING FOR HOME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Research and conference poster</dc:subject>
  <dc:creator>Shanmugam sivaraman</dc:creator>
  <cp:lastModifiedBy>Dharaneshwaran B</cp:lastModifiedBy>
  <cp:revision>2</cp:revision>
  <dcterms:created xsi:type="dcterms:W3CDTF">2026-07-26T14:23:05Z</dcterms:created>
  <dcterms:modified xsi:type="dcterms:W3CDTF">2026-08-14T14:33:19Z</dcterms:modified>
</cp:coreProperties>
</file>